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6" r:id="rId1"/>
  </p:sldMasterIdLst>
  <p:notesMasterIdLst>
    <p:notesMasterId r:id="rId12"/>
  </p:notesMasterIdLst>
  <p:handoutMasterIdLst>
    <p:handoutMasterId r:id="rId13"/>
  </p:handoutMasterIdLst>
  <p:sldIdLst>
    <p:sldId id="257" r:id="rId2"/>
    <p:sldId id="260" r:id="rId3"/>
    <p:sldId id="259" r:id="rId4"/>
    <p:sldId id="261" r:id="rId5"/>
    <p:sldId id="262" r:id="rId6"/>
    <p:sldId id="263" r:id="rId7"/>
    <p:sldId id="265" r:id="rId8"/>
    <p:sldId id="264" r:id="rId9"/>
    <p:sldId id="266" r:id="rId10"/>
    <p:sldId id="267" r:id="rId11"/>
  </p:sldIdLst>
  <p:sldSz cx="12192000" cy="6858000"/>
  <p:notesSz cx="6858000" cy="9144000"/>
  <p:defaultTextStyle>
    <a:defPPr rtl="0"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62626"/>
    <a:srgbClr val="9BA8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1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08" y="3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3552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23A8DBB9-FF4D-4FDA-AD34-27FA86519578}" type="datetime1">
              <a:rPr lang="zh-CN" altLang="en-US" smtClean="0"/>
              <a:t>2026/6/11</a:t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ED92CB86-0DB9-4A70-B1CF-B23508471F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557642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8E1CCE20-FD2F-40C5-ABE3-3369F20AA0E6}" type="datetime1">
              <a:rPr lang="zh-CN" altLang="en-US" smtClean="0"/>
              <a:t>2026/6/11</a:t>
            </a:fld>
            <a:endParaRPr 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zh-cn"/>
              <a:t>单击此处编辑母版文本样式</a:t>
            </a:r>
            <a:endParaRPr lang="en-US"/>
          </a:p>
          <a:p>
            <a:pPr lvl="1" rtl="0"/>
            <a:r>
              <a:rPr lang="zh-cn"/>
              <a:t>第二级</a:t>
            </a:r>
          </a:p>
          <a:p>
            <a:pPr lvl="2" rtl="0"/>
            <a:r>
              <a:rPr lang="zh-cn"/>
              <a:t>第三级</a:t>
            </a:r>
          </a:p>
          <a:p>
            <a:pPr lvl="3" rtl="0"/>
            <a:r>
              <a:rPr lang="zh-cn"/>
              <a:t>第四级</a:t>
            </a:r>
          </a:p>
          <a:p>
            <a:pPr lvl="4" rtl="0"/>
            <a:r>
              <a:rPr lang="zh-cn"/>
              <a:t>第五级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C2B151B-D7D1-48E5-8230-5AADBC794F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59278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长方形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rtlCol="0"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 rtlCol="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pPr rtl="0"/>
            <a:r>
              <a:rPr lang="zh-CN" altLang="en-US"/>
              <a:t>单击此处编辑母版副标题样式</a:t>
            </a:r>
            <a:endParaRPr lang="en-US" dirty="0"/>
          </a:p>
        </p:txBody>
      </p:sp>
      <p:cxnSp>
        <p:nvCxnSpPr>
          <p:cNvPr id="9" name="直接连接符​​(S)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203234F-2943-4AD6-8E73-34C216403FC9}" type="datetime1">
              <a:rPr lang="zh-CN" altLang="en-US" smtClean="0"/>
              <a:t>2026/6/11</a:t>
            </a:fld>
            <a:endParaRPr 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8331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zh-CN" altLang="en-US"/>
              <a:t>单击此处编辑母版文本样式</a:t>
            </a:r>
          </a:p>
          <a:p>
            <a:pPr lvl="1" rtl="0"/>
            <a:r>
              <a:rPr lang="zh-CN" altLang="en-US"/>
              <a:t>二级</a:t>
            </a:r>
          </a:p>
          <a:p>
            <a:pPr lvl="2" rtl="0"/>
            <a:r>
              <a:rPr lang="zh-CN" altLang="en-US"/>
              <a:t>三级</a:t>
            </a:r>
          </a:p>
          <a:p>
            <a:pPr lvl="3" rtl="0"/>
            <a:r>
              <a:rPr lang="zh-CN" altLang="en-US"/>
              <a:t>四级</a:t>
            </a:r>
          </a:p>
          <a:p>
            <a:pPr lvl="4" rtl="0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24A4C0A-F292-41BE-9CD1-530467B1B9F8}" type="datetime1">
              <a:rPr lang="zh-CN" altLang="en-US" smtClean="0"/>
              <a:t>2026/6/11</a:t>
            </a:fld>
            <a:endParaRPr lang="en-US" dirty="0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2670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长方形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rtlCol="0"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rtlCol="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cxnSp>
        <p:nvCxnSpPr>
          <p:cNvPr id="9" name="直接连接符​​(S)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31630FC-7090-4D1C-93D5-113C82941F4E}" type="datetime1">
              <a:rPr lang="zh-CN" altLang="en-US" smtClean="0"/>
              <a:t>2026/6/11</a:t>
            </a:fld>
            <a:endParaRPr lang="en-US" dirty="0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1" name="灯片编号占位符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162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rtlCol="0"/>
          <a:lstStyle/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 rtlCol="0"/>
          <a:lstStyle/>
          <a:p>
            <a:pPr lvl="0" rtl="0"/>
            <a:r>
              <a:rPr lang="zh-CN" altLang="en-US"/>
              <a:t>单击此处编辑母版文本样式</a:t>
            </a:r>
          </a:p>
          <a:p>
            <a:pPr lvl="1" rtl="0"/>
            <a:r>
              <a:rPr lang="zh-CN" altLang="en-US"/>
              <a:t>二级</a:t>
            </a:r>
          </a:p>
          <a:p>
            <a:pPr lvl="2" rtl="0"/>
            <a:r>
              <a:rPr lang="zh-CN" altLang="en-US"/>
              <a:t>三级</a:t>
            </a:r>
          </a:p>
          <a:p>
            <a:pPr lvl="3" rtl="0"/>
            <a:r>
              <a:rPr lang="zh-CN" altLang="en-US"/>
              <a:t>四级</a:t>
            </a:r>
          </a:p>
          <a:p>
            <a:pPr lvl="4" rtl="0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 rtlCol="0"/>
          <a:lstStyle/>
          <a:p>
            <a:pPr lvl="0" rtl="0"/>
            <a:r>
              <a:rPr lang="zh-CN" altLang="en-US"/>
              <a:t>单击此处编辑母版文本样式</a:t>
            </a:r>
          </a:p>
          <a:p>
            <a:pPr lvl="1" rtl="0"/>
            <a:r>
              <a:rPr lang="zh-CN" altLang="en-US"/>
              <a:t>二级</a:t>
            </a:r>
          </a:p>
          <a:p>
            <a:pPr lvl="2" rtl="0"/>
            <a:r>
              <a:rPr lang="zh-CN" altLang="en-US"/>
              <a:t>三级</a:t>
            </a:r>
          </a:p>
          <a:p>
            <a:pPr lvl="3" rtl="0"/>
            <a:r>
              <a:rPr lang="zh-CN" altLang="en-US"/>
              <a:t>四级</a:t>
            </a:r>
          </a:p>
          <a:p>
            <a:pPr lvl="4" rtl="0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1EDFCFC-F8E9-4049-95DD-C79391CC7BFF}" type="datetime1">
              <a:rPr lang="zh-CN" altLang="en-US" smtClean="0"/>
              <a:t>2026/6/11</a:t>
            </a:fld>
            <a:endParaRPr lang="en-US" dirty="0"/>
          </a:p>
        </p:txBody>
      </p:sp>
      <p:sp>
        <p:nvSpPr>
          <p:cNvPr id="9" name="页脚占位符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幻灯片编号占位符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6663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rtlCol="0"/>
          <a:lstStyle/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rtlCol="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 rtlCol="0"/>
          <a:lstStyle/>
          <a:p>
            <a:pPr lvl="0" rtl="0"/>
            <a:r>
              <a:rPr lang="zh-CN" altLang="en-US"/>
              <a:t>单击此处编辑母版文本样式</a:t>
            </a:r>
          </a:p>
          <a:p>
            <a:pPr lvl="1" rtl="0"/>
            <a:r>
              <a:rPr lang="zh-CN" altLang="en-US"/>
              <a:t>二级</a:t>
            </a:r>
          </a:p>
          <a:p>
            <a:pPr lvl="2" rtl="0"/>
            <a:r>
              <a:rPr lang="zh-CN" altLang="en-US"/>
              <a:t>三级</a:t>
            </a:r>
          </a:p>
          <a:p>
            <a:pPr lvl="3" rtl="0"/>
            <a:r>
              <a:rPr lang="zh-CN" altLang="en-US"/>
              <a:t>四级</a:t>
            </a:r>
          </a:p>
          <a:p>
            <a:pPr lvl="4" rtl="0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rtlCol="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 rtlCol="0"/>
          <a:lstStyle/>
          <a:p>
            <a:pPr lvl="0" rtl="0"/>
            <a:r>
              <a:rPr lang="zh-CN" altLang="en-US"/>
              <a:t>单击此处编辑母版文本样式</a:t>
            </a:r>
          </a:p>
          <a:p>
            <a:pPr lvl="1" rtl="0"/>
            <a:r>
              <a:rPr lang="zh-CN" altLang="en-US"/>
              <a:t>二级</a:t>
            </a:r>
          </a:p>
          <a:p>
            <a:pPr lvl="2" rtl="0"/>
            <a:r>
              <a:rPr lang="zh-CN" altLang="en-US"/>
              <a:t>三级</a:t>
            </a:r>
          </a:p>
          <a:p>
            <a:pPr lvl="3" rtl="0"/>
            <a:r>
              <a:rPr lang="zh-CN" altLang="en-US"/>
              <a:t>四级</a:t>
            </a:r>
          </a:p>
          <a:p>
            <a:pPr lvl="4" rtl="0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FBE5E81-E012-42C1-892B-1E2892457684}" type="datetime1">
              <a:rPr lang="zh-CN" altLang="en-US" smtClean="0"/>
              <a:t>2026/6/11</a:t>
            </a:fld>
            <a:endParaRPr lang="en-US" dirty="0"/>
          </a:p>
        </p:txBody>
      </p:sp>
      <p:sp>
        <p:nvSpPr>
          <p:cNvPr id="11" name="页脚占位符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2" name="灯片编号占位符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194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6" name="日期占位符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A05DBCF-E3D4-4FC7-9203-C0C05B2BAA55}" type="datetime1">
              <a:rPr lang="zh-CN" altLang="en-US" smtClean="0"/>
              <a:t>2026/6/11</a:t>
            </a:fld>
            <a:endParaRPr lang="en-US" dirty="0"/>
          </a:p>
        </p:txBody>
      </p:sp>
      <p:sp>
        <p:nvSpPr>
          <p:cNvPr id="7" name="页脚占位符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860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长方形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910A522-F0F5-43AE-870D-B1652467F5E7}" type="datetime1">
              <a:rPr lang="zh-CN" altLang="en-US" smtClean="0"/>
              <a:t>2026/6/11</a:t>
            </a:fld>
            <a:endParaRPr 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422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带标题的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rtlCol="0"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 rtlCol="0"/>
          <a:lstStyle/>
          <a:p>
            <a:pPr lvl="0" rtl="0"/>
            <a:r>
              <a:rPr lang="zh-CN" altLang="en-US"/>
              <a:t>单击此处编辑母版文本样式</a:t>
            </a:r>
          </a:p>
          <a:p>
            <a:pPr lvl="1" rtl="0"/>
            <a:r>
              <a:rPr lang="zh-CN" altLang="en-US"/>
              <a:t>二级</a:t>
            </a:r>
          </a:p>
          <a:p>
            <a:pPr lvl="2" rtl="0"/>
            <a:r>
              <a:rPr lang="zh-CN" altLang="en-US"/>
              <a:t>三级</a:t>
            </a:r>
          </a:p>
          <a:p>
            <a:pPr lvl="3" rtl="0"/>
            <a:r>
              <a:rPr lang="zh-CN" altLang="en-US"/>
              <a:t>四级</a:t>
            </a:r>
          </a:p>
          <a:p>
            <a:pPr lvl="4" rtl="0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 rtlCol="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 rtlCol="0"/>
          <a:lstStyle>
            <a:lvl1pPr algn="l">
              <a:defRPr/>
            </a:lvl1pPr>
          </a:lstStyle>
          <a:p>
            <a:pPr rtl="0"/>
            <a:fld id="{4571CF06-CFCF-4651-AD58-EA72AF9A9AA5}" type="datetime1">
              <a:rPr lang="zh-CN" altLang="en-US" smtClean="0"/>
              <a:t>2026/6/11</a:t>
            </a:fld>
            <a:endParaRPr 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 rtlCol="0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en-US" dirty="0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3282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带标题的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rtlCol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rtlCol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fld id="{A78803E1-1726-4879-80E3-452B390141DD}" type="datetime1">
              <a:rPr lang="zh-CN" altLang="en-US" smtClean="0"/>
              <a:t>2026/6/11</a:t>
            </a:fld>
            <a:endParaRPr 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 rtlCol="0"/>
          <a:lstStyle/>
          <a:p>
            <a:pPr algn="l" rtl="0"/>
            <a:endParaRPr 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267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垂直文本占位符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 rtlCol="0"/>
          <a:lstStyle/>
          <a:p>
            <a:pPr lvl="0" rtl="0"/>
            <a:r>
              <a:rPr lang="zh-CN" altLang="en-US"/>
              <a:t>单击此处编辑母版文本样式</a:t>
            </a:r>
          </a:p>
          <a:p>
            <a:pPr lvl="1" rtl="0"/>
            <a:r>
              <a:rPr lang="zh-CN" altLang="en-US"/>
              <a:t>二级</a:t>
            </a:r>
          </a:p>
          <a:p>
            <a:pPr lvl="2" rtl="0"/>
            <a:r>
              <a:rPr lang="zh-CN" altLang="en-US"/>
              <a:t>三级</a:t>
            </a:r>
          </a:p>
          <a:p>
            <a:pPr lvl="3" rtl="0"/>
            <a:r>
              <a:rPr lang="zh-CN" altLang="en-US"/>
              <a:t>四级</a:t>
            </a:r>
          </a:p>
          <a:p>
            <a:pPr lvl="4" rtl="0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818B044-5115-4C63-8F06-0D627F0729F0}" type="datetime1">
              <a:rPr lang="zh-CN" altLang="en-US" smtClean="0"/>
              <a:t>2026/6/11</a:t>
            </a:fld>
            <a:endParaRPr lang="en-US" dirty="0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269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长方形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垂直标题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 rtlCol="0"/>
          <a:lstStyle/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垂直文本占位符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 rtlCol="0"/>
          <a:lstStyle/>
          <a:p>
            <a:pPr lvl="0" rtl="0"/>
            <a:r>
              <a:rPr lang="zh-CN" altLang="en-US"/>
              <a:t>单击此处编辑母版文本样式</a:t>
            </a:r>
          </a:p>
          <a:p>
            <a:pPr lvl="1" rtl="0"/>
            <a:r>
              <a:rPr lang="zh-CN" altLang="en-US"/>
              <a:t>二级</a:t>
            </a:r>
          </a:p>
          <a:p>
            <a:pPr lvl="2" rtl="0"/>
            <a:r>
              <a:rPr lang="zh-CN" altLang="en-US"/>
              <a:t>三级</a:t>
            </a:r>
          </a:p>
          <a:p>
            <a:pPr lvl="3" rtl="0"/>
            <a:r>
              <a:rPr lang="zh-CN" altLang="en-US"/>
              <a:t>四级</a:t>
            </a:r>
          </a:p>
          <a:p>
            <a:pPr lvl="4" rtl="0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0E476C3-78BD-40CB-9C6F-0D41DD7E1D50}" type="datetime1">
              <a:rPr lang="zh-CN" altLang="en-US" smtClean="0"/>
              <a:t>2026/6/11</a:t>
            </a:fld>
            <a:endParaRPr lang="en-US" dirty="0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灯片编号占位符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1827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长方形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zh-cn" dirty="0"/>
              <a:t>单击此处编辑母版标题样式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 rtl="0"/>
            <a:r>
              <a:rPr lang="zh-cn" dirty="0"/>
              <a:t>单击此处编辑母版文本样式</a:t>
            </a:r>
          </a:p>
          <a:p>
            <a:pPr lvl="1" rtl="0"/>
            <a:r>
              <a:rPr lang="zh-cn" dirty="0"/>
              <a:t>第二级</a:t>
            </a:r>
          </a:p>
          <a:p>
            <a:pPr lvl="2" rtl="0"/>
            <a:r>
              <a:rPr lang="zh-cn" dirty="0"/>
              <a:t>第三级</a:t>
            </a:r>
          </a:p>
          <a:p>
            <a:pPr lvl="3" rtl="0"/>
            <a:r>
              <a:rPr lang="zh-cn" dirty="0"/>
              <a:t>第四级</a:t>
            </a:r>
          </a:p>
          <a:p>
            <a:pPr lvl="4" rtl="0"/>
            <a:r>
              <a:rPr lang="zh-cn" dirty="0"/>
              <a:t>第五级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4ECCA8BC-1B61-46E2-9581-00FC2FDA063C}" type="datetime1">
              <a:rPr lang="zh-CN" altLang="en-US" smtClean="0"/>
              <a:t>2026/6/11</a:t>
            </a:fld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en-US" dirty="0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直接连接符​​(S)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4982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47" r:id="rId3"/>
    <p:sldLayoutId id="2147483743" r:id="rId4"/>
    <p:sldLayoutId id="2147483738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新宋体" panose="02010609030101010101" pitchFamily="49" charset="-122"/>
          <a:ea typeface="新宋体" panose="02010609030101010101" pitchFamily="49" charset="-122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长方形 21">
            <a:extLst>
              <a:ext uri="{FF2B5EF4-FFF2-40B4-BE49-F238E27FC236}">
                <a16:creationId xmlns:a16="http://schemas.microsoft.com/office/drawing/2014/main" id="{A9286AD2-18A9-4868-A4E3-7A2097A2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78FD68DA-43BA-4508-8DE2-BA9BB7B2FA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78984" y="2131752"/>
            <a:ext cx="6269346" cy="1966037"/>
          </a:xfrm>
        </p:spPr>
        <p:txBody>
          <a:bodyPr rtlCol="0">
            <a:normAutofit/>
          </a:bodyPr>
          <a:lstStyle/>
          <a:p>
            <a:r>
              <a:rPr lang="zh-CN" altLang="en-US" sz="3200" dirty="0"/>
              <a:t>从“水土不服”到“品类第一”韶音耳机在日本市场的跨文化营销困境与改进方案</a:t>
            </a:r>
            <a:br>
              <a:rPr lang="zh-CN" altLang="en-US" sz="3200" dirty="0"/>
            </a:br>
            <a:endParaRPr lang="zh-cn" sz="3200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8E9CFF2-3777-4FF4-A759-8491175B0B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89753" y="4672739"/>
            <a:ext cx="6269347" cy="1021498"/>
          </a:xfrm>
        </p:spPr>
        <p:txBody>
          <a:bodyPr rtlCol="0">
            <a:normAutofit fontScale="92500"/>
          </a:bodyPr>
          <a:lstStyle/>
          <a:p>
            <a:pPr rtl="0"/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小组成员：简卓凡</a:t>
            </a: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 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万唯 杨芷毓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latin typeface="MS Gothic" panose="020B0609070205080204" pitchFamily="49" charset="-128"/>
              <a:ea typeface="MS Gothic" panose="020B0609070205080204" pitchFamily="49" charset="-128"/>
            </a:endParaRPr>
          </a:p>
          <a:p>
            <a:pPr rtl="0"/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2023120613209 </a:t>
            </a:r>
            <a:r>
              <a:rPr lang="en-US" altLang="zh-CN" sz="2000">
                <a:solidFill>
                  <a:schemeClr val="tx1">
                    <a:lumMod val="85000"/>
                    <a:lumOff val="15000"/>
                  </a:schemeClr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2023120610130 2023120613204</a:t>
            </a:r>
            <a:endParaRPr lang="zh-cn" sz="2000" dirty="0">
              <a:solidFill>
                <a:schemeClr val="tx1">
                  <a:lumMod val="85000"/>
                  <a:lumOff val="15000"/>
                </a:schemeClr>
              </a:solidFill>
              <a:latin typeface="MS Gothic" panose="020B0609070205080204" pitchFamily="49" charset="-128"/>
              <a:ea typeface="MS Gothic" panose="020B0609070205080204" pitchFamily="49" charset="-128"/>
            </a:endParaRPr>
          </a:p>
        </p:txBody>
      </p:sp>
      <p:pic>
        <p:nvPicPr>
          <p:cNvPr id="5" name="图片 4" descr="一张显示了建筑物、坐姿、长凳和侧边的图片&#10;&#10;说明自动生成">
            <a:extLst>
              <a:ext uri="{FF2B5EF4-FFF2-40B4-BE49-F238E27FC236}">
                <a16:creationId xmlns:a16="http://schemas.microsoft.com/office/drawing/2014/main" id="{282CF6DD-7FE8-4063-9551-1B7BBCE92AB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1"/>
            <a:ext cx="4635315" cy="6857999"/>
          </a:xfrm>
          <a:prstGeom prst="rect">
            <a:avLst/>
          </a:prstGeom>
        </p:spPr>
      </p:pic>
      <p:cxnSp>
        <p:nvCxnSpPr>
          <p:cNvPr id="24" name="直接连接符​​(S) 23">
            <a:extLst>
              <a:ext uri="{FF2B5EF4-FFF2-40B4-BE49-F238E27FC236}">
                <a16:creationId xmlns:a16="http://schemas.microsoft.com/office/drawing/2014/main" id="{E7A7CD63-7EC3-44F3-95D0-595C4019F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27754" y="4498925"/>
            <a:ext cx="563610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5">
            <a:extLst>
              <a:ext uri="{FF2B5EF4-FFF2-40B4-BE49-F238E27FC236}">
                <a16:creationId xmlns:a16="http://schemas.microsoft.com/office/drawing/2014/main" id="{855D10A9-7D47-DA81-25B4-C6E9478AB6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-1438692" y="980715"/>
            <a:ext cx="7555775" cy="4635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37378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AE2D11-3125-4EC8-B223-9D8C5F7386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9435" y="1840675"/>
            <a:ext cx="2327563" cy="2951611"/>
          </a:xfrm>
          <a:ln>
            <a:solidFill>
              <a:srgbClr val="262626"/>
            </a:solidFill>
          </a:ln>
        </p:spPr>
        <p:txBody>
          <a:bodyPr lIns="137160" tIns="137160" rIns="137160" bIns="137160" anchor="t">
            <a:normAutofit fontScale="90000"/>
          </a:bodyPr>
          <a:lstStyle/>
          <a:p>
            <a:r>
              <a:rPr lang="zh-CN" altLang="en-US" i="1" dirty="0"/>
              <a:t>面临困境</a:t>
            </a:r>
            <a:br>
              <a:rPr lang="en-US" altLang="zh-CN" dirty="0"/>
            </a:br>
            <a:br>
              <a:rPr lang="en-US" altLang="zh-CN" dirty="0"/>
            </a:br>
            <a:r>
              <a:rPr lang="en-US" altLang="zh-CN" dirty="0"/>
              <a:t> </a:t>
            </a:r>
            <a:r>
              <a:rPr lang="en-US" altLang="zh-CN" sz="2400" i="1" dirty="0"/>
              <a:t>1.</a:t>
            </a:r>
            <a:r>
              <a:rPr lang="zh-CN" altLang="en-US" sz="2400" i="1" dirty="0"/>
              <a:t>文化</a:t>
            </a:r>
            <a:br>
              <a:rPr lang="en-US" altLang="zh-CN" sz="2400" i="1" dirty="0"/>
            </a:br>
            <a:br>
              <a:rPr lang="en-US" altLang="zh-CN" sz="2400" i="1" dirty="0"/>
            </a:br>
            <a:r>
              <a:rPr lang="en-US" altLang="zh-CN" sz="2400" i="1" dirty="0"/>
              <a:t> 2.</a:t>
            </a:r>
            <a:r>
              <a:rPr lang="zh-CN" altLang="en-US" sz="2400" i="1" dirty="0"/>
              <a:t>品牌</a:t>
            </a:r>
            <a:br>
              <a:rPr lang="en-US" altLang="zh-CN" sz="2400" i="1" dirty="0"/>
            </a:br>
            <a:br>
              <a:rPr lang="en-US" altLang="zh-CN" sz="2400" i="1" dirty="0"/>
            </a:br>
            <a:r>
              <a:rPr lang="en-US" altLang="zh-CN" sz="2400" i="1" dirty="0"/>
              <a:t> 3.</a:t>
            </a:r>
            <a:r>
              <a:rPr lang="zh-CN" altLang="en-US" sz="2400" i="1" dirty="0"/>
              <a:t>渠道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0A28B61-EA4B-E08B-C297-21F94166FA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70860" y="553319"/>
            <a:ext cx="5928344" cy="5294757"/>
          </a:xfrm>
        </p:spPr>
        <p:txBody>
          <a:bodyPr>
            <a:normAutofit fontScale="85000" lnSpcReduction="20000"/>
          </a:bodyPr>
          <a:lstStyle/>
          <a:p>
            <a:endParaRPr lang="en-US" altLang="zh-CN" dirty="0"/>
          </a:p>
          <a:p>
            <a:r>
              <a:rPr lang="zh-CN" altLang="en-US" sz="3000" b="1" dirty="0"/>
              <a:t>关于韶音：从技术突围到全球拓展</a:t>
            </a:r>
            <a:endParaRPr lang="en-US" altLang="zh-CN" sz="3000" b="1" dirty="0"/>
          </a:p>
          <a:p>
            <a:endParaRPr lang="en-US" altLang="zh-CN" sz="1200" b="1" dirty="0"/>
          </a:p>
          <a:p>
            <a:r>
              <a:rPr lang="en-US" altLang="zh-CN" dirty="0"/>
              <a:t>· </a:t>
            </a:r>
            <a:r>
              <a:rPr lang="zh-CN" altLang="en-US" dirty="0"/>
              <a:t>成立于</a:t>
            </a:r>
            <a:r>
              <a:rPr lang="en-US" altLang="zh-CN" dirty="0"/>
              <a:t>2011</a:t>
            </a:r>
            <a:r>
              <a:rPr lang="zh-CN" altLang="en-US" dirty="0"/>
              <a:t>年，专注骨传导与开放式声学技术</a:t>
            </a:r>
          </a:p>
          <a:p>
            <a:r>
              <a:rPr lang="en-US" altLang="zh-CN" dirty="0"/>
              <a:t>· </a:t>
            </a:r>
            <a:r>
              <a:rPr lang="zh-CN" altLang="en-US" dirty="0"/>
              <a:t>全球用户超</a:t>
            </a:r>
            <a:r>
              <a:rPr lang="en-US" altLang="zh-CN" dirty="0"/>
              <a:t>1500</a:t>
            </a:r>
            <a:r>
              <a:rPr lang="zh-CN" altLang="en-US" dirty="0"/>
              <a:t>万，年营收超</a:t>
            </a:r>
            <a:r>
              <a:rPr lang="en-US" altLang="zh-CN" dirty="0"/>
              <a:t>40</a:t>
            </a:r>
            <a:r>
              <a:rPr lang="zh-CN" altLang="en-US" dirty="0"/>
              <a:t>亿元，</a:t>
            </a:r>
            <a:r>
              <a:rPr lang="en-US" altLang="zh-CN" dirty="0"/>
              <a:t>70%</a:t>
            </a:r>
            <a:r>
              <a:rPr lang="zh-CN" altLang="en-US" dirty="0"/>
              <a:t>收入来自海外</a:t>
            </a:r>
          </a:p>
          <a:p>
            <a:r>
              <a:rPr lang="en-US" altLang="zh-CN" dirty="0"/>
              <a:t>· </a:t>
            </a:r>
            <a:r>
              <a:rPr lang="zh-CN" altLang="en-US" dirty="0"/>
              <a:t>连续</a:t>
            </a:r>
            <a:r>
              <a:rPr lang="en-US" altLang="zh-CN" dirty="0"/>
              <a:t>3</a:t>
            </a:r>
            <a:r>
              <a:rPr lang="zh-CN" altLang="en-US" dirty="0"/>
              <a:t>年全球开放式耳机品牌出货量第一</a:t>
            </a:r>
          </a:p>
          <a:p>
            <a:r>
              <a:rPr lang="en-US" altLang="zh-CN" dirty="0"/>
              <a:t>· </a:t>
            </a:r>
            <a:r>
              <a:rPr lang="zh-CN" altLang="en-US" dirty="0"/>
              <a:t>日本是继中国、美国之后的第三大市场，亚马逊日本站骨传导类目排名稳居第一年销售额已突破</a:t>
            </a:r>
            <a:r>
              <a:rPr lang="en-US" altLang="zh-CN" dirty="0"/>
              <a:t>1</a:t>
            </a:r>
            <a:r>
              <a:rPr lang="zh-CN" altLang="en-US" dirty="0"/>
              <a:t>亿元人民币，日本骨传导耳机市场占有率上升至</a:t>
            </a:r>
            <a:r>
              <a:rPr lang="en-US" altLang="zh-CN" dirty="0"/>
              <a:t>23%</a:t>
            </a:r>
            <a:r>
              <a:rPr lang="zh-CN" altLang="en-US" dirty="0"/>
              <a:t>。</a:t>
            </a:r>
          </a:p>
          <a:p>
            <a:r>
              <a:rPr lang="en-US" altLang="zh-CN" dirty="0"/>
              <a:t>· </a:t>
            </a:r>
            <a:r>
              <a:rPr lang="zh-CN" altLang="en-US" dirty="0"/>
              <a:t>入驻超</a:t>
            </a:r>
            <a:r>
              <a:rPr lang="en-US" altLang="zh-CN" dirty="0"/>
              <a:t>28,000</a:t>
            </a:r>
            <a:r>
              <a:rPr lang="zh-CN" altLang="en-US" dirty="0"/>
              <a:t>家全球门店，在日韩设有区域营销总部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  <a:p>
            <a:r>
              <a:rPr lang="zh-CN" altLang="en-US" b="1" dirty="0"/>
              <a:t>探讨</a:t>
            </a:r>
            <a:r>
              <a:rPr lang="en-US" altLang="zh-CN" dirty="0"/>
              <a:t>:</a:t>
            </a:r>
            <a:r>
              <a:rPr lang="zh-CN" altLang="en-US" dirty="0"/>
              <a:t>韶音最初进入日本市场时遭遇的种种挑战</a:t>
            </a:r>
            <a:endParaRPr lang="en-US" altLang="zh-CN" dirty="0"/>
          </a:p>
          <a:p>
            <a:r>
              <a:rPr lang="en-US" altLang="zh-CN" dirty="0"/>
              <a:t>        </a:t>
            </a:r>
            <a:r>
              <a:rPr lang="zh-CN" altLang="en-US" dirty="0"/>
              <a:t>以及它是如何通过深度本土化策略克服这些困难的。</a:t>
            </a:r>
          </a:p>
          <a:p>
            <a:endParaRPr lang="zh-CN" altLang="en-US" dirty="0"/>
          </a:p>
          <a:p>
            <a:endParaRPr lang="zh-CN" altLang="en-US" dirty="0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6F266EA-A9D0-87F3-5347-BA21A6B7CE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4571CF06-CFCF-4651-AD58-EA72AF9A9AA5}" type="datetime1">
              <a:rPr lang="zh-CN" altLang="en-US" smtClean="0"/>
              <a:t>2026/6/11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0478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9A8F72-8275-12AF-5CBB-2FE8EF439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200" dirty="0"/>
              <a:t>困境一：文化营销“水土不服”</a:t>
            </a:r>
            <a:r>
              <a:rPr lang="en-US" altLang="zh-CN" sz="3200" dirty="0"/>
              <a:t>——</a:t>
            </a:r>
            <a:r>
              <a:rPr lang="zh-CN" altLang="en-US" sz="3200" dirty="0"/>
              <a:t>简单复制欧美模式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061B8AB-A654-97E0-2E54-07FCECFAFD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608757"/>
            <a:ext cx="10058400" cy="3760891"/>
          </a:xfrm>
        </p:spPr>
        <p:txBody>
          <a:bodyPr/>
          <a:lstStyle/>
          <a:p>
            <a:r>
              <a:rPr lang="en-US" altLang="zh-CN" dirty="0"/>
              <a:t>· </a:t>
            </a:r>
            <a:r>
              <a:rPr lang="zh-CN" altLang="en-US" dirty="0"/>
              <a:t>照搬欧美简洁营销策略，内容翻译后反响冷淡</a:t>
            </a:r>
          </a:p>
          <a:p>
            <a:r>
              <a:rPr lang="en-US" altLang="zh-CN" dirty="0"/>
              <a:t>· </a:t>
            </a:r>
            <a:r>
              <a:rPr lang="zh-CN" altLang="en-US" dirty="0"/>
              <a:t>日本消费者要求信息详实、绝对准确，对“机翻”零容忍</a:t>
            </a:r>
          </a:p>
          <a:p>
            <a:r>
              <a:rPr lang="en-US" altLang="zh-CN" dirty="0"/>
              <a:t>· </a:t>
            </a:r>
            <a:r>
              <a:rPr lang="zh-CN" altLang="en-US" dirty="0"/>
              <a:t>日本消费者天然对“中国制造”存疑，品牌建设早期信任壁垒极高</a:t>
            </a:r>
          </a:p>
          <a:p>
            <a:r>
              <a:rPr lang="en-US" altLang="zh-CN" dirty="0"/>
              <a:t>· </a:t>
            </a:r>
            <a:r>
              <a:rPr lang="zh-CN" altLang="en-US" dirty="0"/>
              <a:t>关键转折：韶音国际业务负责人</a:t>
            </a:r>
            <a:r>
              <a:rPr lang="en-US" altLang="zh-CN" dirty="0"/>
              <a:t>Daisy</a:t>
            </a:r>
            <a:r>
              <a:rPr lang="zh-CN" altLang="en-US" dirty="0"/>
              <a:t>在一次专访中直言“惨痛教训：不懂日本文化，照抄美国模式”</a:t>
            </a:r>
          </a:p>
          <a:p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A3BAAFF-1F5D-28F3-B3A8-FCE062AA0E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A24A4C0A-F292-41BE-9CD1-530467B1B9F8}" type="datetime1">
              <a:rPr lang="zh-CN" altLang="en-US" smtClean="0"/>
              <a:t>2026/6/11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14437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70D47C-EFE7-F9B0-2A45-DB764304EC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200" dirty="0"/>
              <a:t>困境二</a:t>
            </a:r>
            <a:r>
              <a:rPr lang="en-US" altLang="zh-CN" sz="3200" dirty="0"/>
              <a:t>——</a:t>
            </a:r>
            <a:r>
              <a:rPr lang="zh-CN" altLang="en-US" sz="3200" dirty="0"/>
              <a:t>未了解线下市场对于日本消费者的重要性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E39FCB6-E2F8-F433-972B-36AC8A092D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642590"/>
            <a:ext cx="10058400" cy="3760891"/>
          </a:xfrm>
        </p:spPr>
        <p:txBody>
          <a:bodyPr/>
          <a:lstStyle/>
          <a:p>
            <a:r>
              <a:rPr lang="en-US" altLang="zh-CN" dirty="0"/>
              <a:t>· </a:t>
            </a:r>
            <a:r>
              <a:rPr lang="zh-CN" altLang="en-US" dirty="0"/>
              <a:t>欧美市场线上线下并重，日本市场高度依赖线下渠道</a:t>
            </a:r>
          </a:p>
          <a:p>
            <a:r>
              <a:rPr lang="en-US" altLang="zh-CN" dirty="0"/>
              <a:t>· </a:t>
            </a:r>
            <a:r>
              <a:rPr lang="zh-CN" altLang="en-US" dirty="0"/>
              <a:t>日本消费者对消费电子专卖店和百货商店抱有极高信任</a:t>
            </a:r>
          </a:p>
          <a:p>
            <a:r>
              <a:rPr lang="en-US" altLang="zh-CN" dirty="0"/>
              <a:t>· </a:t>
            </a:r>
            <a:r>
              <a:rPr lang="zh-CN" altLang="en-US" dirty="0"/>
              <a:t>早期忽略线下渗透，仅靠线上难以建立品牌信任</a:t>
            </a:r>
          </a:p>
          <a:p>
            <a:r>
              <a:rPr lang="en-US" altLang="zh-CN" dirty="0"/>
              <a:t>· </a:t>
            </a:r>
            <a:r>
              <a:rPr lang="zh-CN" altLang="en-US" dirty="0"/>
              <a:t>日本渠道结构极稳定，新品牌入驻门槛高、谈判周期长</a:t>
            </a:r>
          </a:p>
          <a:p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CD63EC5-5B96-2A43-7A8B-E4366E4CEE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A24A4C0A-F292-41BE-9CD1-530467B1B9F8}" type="datetime1">
              <a:rPr lang="zh-CN" altLang="en-US" smtClean="0"/>
              <a:t>2026/6/11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00527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182602-22DC-7B1A-369F-67F6BA0E62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200" dirty="0"/>
              <a:t>困境三：品牌认知错位</a:t>
            </a:r>
            <a:r>
              <a:rPr lang="en-US" altLang="zh-CN" sz="3200" dirty="0"/>
              <a:t>-“</a:t>
            </a:r>
            <a:r>
              <a:rPr lang="zh-CN" altLang="en-US" sz="3200" dirty="0"/>
              <a:t>骨传导”未被日本消费者理解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916CC5A-1457-14D5-754A-40183CE246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2685947"/>
            <a:ext cx="10058400" cy="3760891"/>
          </a:xfrm>
        </p:spPr>
        <p:txBody>
          <a:bodyPr/>
          <a:lstStyle/>
          <a:p>
            <a:r>
              <a:rPr lang="en-US" altLang="zh-CN" dirty="0"/>
              <a:t>· </a:t>
            </a:r>
            <a:r>
              <a:rPr lang="zh-CN" altLang="en-US" dirty="0"/>
              <a:t>骨传导技术概念在日本缺乏科普基础，消费者认知成本高</a:t>
            </a:r>
          </a:p>
          <a:p>
            <a:r>
              <a:rPr lang="en-US" altLang="zh-CN" dirty="0"/>
              <a:t>· </a:t>
            </a:r>
            <a:r>
              <a:rPr lang="zh-CN" altLang="en-US" dirty="0"/>
              <a:t>早期产品功能描述过于技术化，未能与生活场景有效关联</a:t>
            </a:r>
          </a:p>
          <a:p>
            <a:r>
              <a:rPr lang="en-US" altLang="zh-CN" dirty="0"/>
              <a:t>· </a:t>
            </a:r>
            <a:r>
              <a:rPr lang="zh-CN" altLang="en-US" dirty="0"/>
              <a:t>品牌形象定位模糊，缺少清晰的“身份标签”</a:t>
            </a:r>
          </a:p>
          <a:p>
            <a:r>
              <a:rPr lang="en-US" altLang="zh-CN" dirty="0"/>
              <a:t>· </a:t>
            </a:r>
            <a:r>
              <a:rPr lang="zh-CN" altLang="en-US" dirty="0"/>
              <a:t>日本本土品牌如</a:t>
            </a:r>
            <a:r>
              <a:rPr lang="en-US" altLang="zh-CN" dirty="0"/>
              <a:t>Panasonic</a:t>
            </a:r>
            <a:r>
              <a:rPr lang="zh-CN" altLang="en-US" dirty="0"/>
              <a:t>（松下）已有先发优势，竞争压力大</a:t>
            </a:r>
          </a:p>
          <a:p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488584F-FFDD-9F7A-BEBC-CB75730985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A24A4C0A-F292-41BE-9CD1-530467B1B9F8}" type="datetime1">
              <a:rPr lang="zh-CN" altLang="en-US" smtClean="0"/>
              <a:t>2026/6/11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5300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5AB89C-5C2B-0DD4-1421-A9E5FE7DFC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200" dirty="0"/>
              <a:t>改进方案一：从“翻译”到“文化适配”</a:t>
            </a:r>
            <a:br>
              <a:rPr lang="en-US" altLang="zh-CN" sz="3200" dirty="0"/>
            </a:br>
            <a:r>
              <a:rPr lang="en-US" altLang="zh-CN" sz="3200" dirty="0"/>
              <a:t>            </a:t>
            </a:r>
            <a:r>
              <a:rPr lang="zh-CN" altLang="en-US" sz="3200" dirty="0"/>
              <a:t>极致本地化营销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EA0D445-6F7A-821B-F841-59EAF9E2B0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2633644"/>
            <a:ext cx="10058400" cy="2264930"/>
          </a:xfrm>
        </p:spPr>
        <p:txBody>
          <a:bodyPr>
            <a:normAutofit/>
          </a:bodyPr>
          <a:lstStyle/>
          <a:p>
            <a:r>
              <a:rPr lang="en-US" altLang="zh-CN" dirty="0"/>
              <a:t>· </a:t>
            </a:r>
            <a:r>
              <a:rPr lang="zh-CN" altLang="en-US" dirty="0"/>
              <a:t>产品描述由本土团队重写，极尽详细</a:t>
            </a:r>
          </a:p>
          <a:p>
            <a:r>
              <a:rPr lang="en-US" altLang="zh-CN" dirty="0"/>
              <a:t>· </a:t>
            </a:r>
            <a:r>
              <a:rPr lang="zh-CN" altLang="en-US" dirty="0"/>
              <a:t>广告用日本模特、在日本拍</a:t>
            </a:r>
          </a:p>
          <a:p>
            <a:r>
              <a:rPr lang="en-US" altLang="zh-CN" dirty="0"/>
              <a:t>· </a:t>
            </a:r>
            <a:r>
              <a:rPr lang="zh-CN" altLang="en-US" dirty="0"/>
              <a:t>专业日语客服</a:t>
            </a:r>
          </a:p>
          <a:p>
            <a:r>
              <a:rPr lang="en-US" altLang="zh-CN" dirty="0"/>
              <a:t>· </a:t>
            </a:r>
            <a:r>
              <a:rPr lang="zh-CN" altLang="en-US" dirty="0"/>
              <a:t>赞助日本跑步赛事、签约本土名人（如鱼韵乐队主唱山口一郎）款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8CBF229-02AE-7187-3DE9-A4588F1797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A24A4C0A-F292-41BE-9CD1-530467B1B9F8}" type="datetime1">
              <a:rPr lang="zh-CN" altLang="en-US" smtClean="0"/>
              <a:t>2026/6/11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7767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EEF83E-FBC6-9606-AA3D-4BE1C7B6EA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200" dirty="0"/>
              <a:t>改进二：</a:t>
            </a:r>
            <a:r>
              <a:rPr lang="en-US" altLang="zh-CN" sz="3200" dirty="0"/>
              <a:t>O2O</a:t>
            </a:r>
            <a:r>
              <a:rPr lang="zh-CN" altLang="en-US" sz="3200" dirty="0"/>
              <a:t>闭环 线下体验</a:t>
            </a:r>
            <a:r>
              <a:rPr lang="en-US" altLang="zh-CN" sz="3200" dirty="0"/>
              <a:t>+</a:t>
            </a:r>
            <a:r>
              <a:rPr lang="zh-CN" altLang="en-US" sz="3200" dirty="0"/>
              <a:t>线上转化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78E71B0-BC1C-10C1-F6EC-8039111DFA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737594"/>
            <a:ext cx="10058400" cy="3760891"/>
          </a:xfrm>
        </p:spPr>
        <p:txBody>
          <a:bodyPr/>
          <a:lstStyle/>
          <a:p>
            <a:r>
              <a:rPr lang="zh-CN" altLang="en-US" dirty="0"/>
              <a:t> 打入</a:t>
            </a:r>
            <a:r>
              <a:rPr lang="en-US" altLang="zh-CN" dirty="0"/>
              <a:t>Bic Camera</a:t>
            </a:r>
            <a:r>
              <a:rPr lang="zh-CN" altLang="en-US" dirty="0"/>
              <a:t>、友都八喜等主流电器店</a:t>
            </a:r>
          </a:p>
          <a:p>
            <a:r>
              <a:rPr lang="en-US" altLang="zh-CN" dirty="0"/>
              <a:t>· </a:t>
            </a:r>
            <a:r>
              <a:rPr lang="zh-CN" altLang="en-US" dirty="0"/>
              <a:t>也进体育用品店（</a:t>
            </a:r>
            <a:r>
              <a:rPr lang="en-US" altLang="zh-CN" dirty="0"/>
              <a:t>Alpen</a:t>
            </a:r>
            <a:r>
              <a:rPr lang="zh-CN" altLang="en-US" dirty="0"/>
              <a:t>）</a:t>
            </a:r>
          </a:p>
          <a:p>
            <a:r>
              <a:rPr lang="en-US" altLang="zh-CN" dirty="0"/>
              <a:t>· </a:t>
            </a:r>
            <a:r>
              <a:rPr lang="zh-CN" altLang="en-US" dirty="0"/>
              <a:t>培训店员，让他们会讲、会推</a:t>
            </a:r>
          </a:p>
          <a:p>
            <a:r>
              <a:rPr lang="en-US" altLang="zh-CN" dirty="0"/>
              <a:t>· </a:t>
            </a:r>
            <a:r>
              <a:rPr lang="zh-CN" altLang="en-US" dirty="0"/>
              <a:t>线上负责口碑和便利购买</a:t>
            </a:r>
          </a:p>
          <a:p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577EB07-1B3A-61EA-3132-AAAC0D0C51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A24A4C0A-F292-41BE-9CD1-530467B1B9F8}" type="datetime1">
              <a:rPr lang="zh-CN" altLang="en-US" smtClean="0"/>
              <a:t>2026/6/11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93411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352381-FE86-6F01-0780-C26F805062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200" dirty="0"/>
              <a:t>改进方案三：从“功能讲述”到“情感共鸣”</a:t>
            </a:r>
            <a:r>
              <a:rPr lang="en-US" altLang="zh-CN" sz="3200" dirty="0"/>
              <a:t>——</a:t>
            </a:r>
            <a:r>
              <a:rPr lang="zh-CN" altLang="en-US" sz="3200" dirty="0"/>
              <a:t>品牌升级与文化符号植入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303ADB8-7501-F860-8CAA-79F7D28064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2363521"/>
            <a:ext cx="10058400" cy="3760891"/>
          </a:xfrm>
        </p:spPr>
        <p:txBody>
          <a:bodyPr>
            <a:normAutofit/>
          </a:bodyPr>
          <a:lstStyle/>
          <a:p>
            <a:r>
              <a:rPr lang="zh-CN" altLang="en-US" dirty="0"/>
              <a:t>品牌定位升级：</a:t>
            </a:r>
          </a:p>
          <a:p>
            <a:r>
              <a:rPr lang="en-US" altLang="zh-CN" dirty="0"/>
              <a:t>· </a:t>
            </a:r>
            <a:r>
              <a:rPr lang="zh-CN" altLang="en-US" dirty="0"/>
              <a:t>确立“专业运动耳机”品牌定位，跳出与消费电子巨头正面竞争</a:t>
            </a:r>
          </a:p>
          <a:p>
            <a:r>
              <a:rPr lang="en-US" altLang="zh-CN" dirty="0"/>
              <a:t>· </a:t>
            </a:r>
            <a:r>
              <a:rPr lang="zh-CN" altLang="en-US" dirty="0"/>
              <a:t>代言人从国际巨星（基普乔格）延伸至日本本土名人（山口一郎）</a:t>
            </a:r>
          </a:p>
          <a:p>
            <a:r>
              <a:rPr lang="zh-CN" altLang="en-US" dirty="0"/>
              <a:t>文化符号植入：</a:t>
            </a:r>
          </a:p>
          <a:p>
            <a:r>
              <a:rPr lang="en-US" altLang="zh-CN" dirty="0"/>
              <a:t>· </a:t>
            </a:r>
            <a:r>
              <a:rPr lang="zh-CN" altLang="en-US" dirty="0"/>
              <a:t>产品命名系列化：</a:t>
            </a:r>
            <a:r>
              <a:rPr lang="en-US" altLang="zh-CN" dirty="0" err="1"/>
              <a:t>OpenRun</a:t>
            </a:r>
            <a:r>
              <a:rPr lang="en-US" altLang="zh-CN" dirty="0"/>
              <a:t>/</a:t>
            </a:r>
            <a:r>
              <a:rPr lang="en-US" altLang="zh-CN" dirty="0" err="1"/>
              <a:t>OpenFit</a:t>
            </a:r>
            <a:r>
              <a:rPr lang="en-US" altLang="zh-CN" dirty="0"/>
              <a:t>/</a:t>
            </a:r>
            <a:r>
              <a:rPr lang="en-US" altLang="zh-CN" dirty="0" err="1"/>
              <a:t>OpenSwim</a:t>
            </a:r>
            <a:r>
              <a:rPr lang="zh-CN" altLang="en-US" dirty="0"/>
              <a:t>，强化专业感知</a:t>
            </a:r>
          </a:p>
          <a:p>
            <a:r>
              <a:rPr lang="en-US" altLang="zh-CN" dirty="0"/>
              <a:t>· </a:t>
            </a:r>
            <a:r>
              <a:rPr lang="zh-CN" altLang="en-US" dirty="0"/>
              <a:t>山口一郎联名款融入日本流行文化元素（“</a:t>
            </a:r>
            <a:r>
              <a:rPr lang="en-US" altLang="zh-CN" dirty="0"/>
              <a:t>0106”</a:t>
            </a:r>
            <a:r>
              <a:rPr lang="zh-CN" altLang="en-US" dirty="0"/>
              <a:t>谐音梗、限量编号）</a:t>
            </a:r>
          </a:p>
          <a:p>
            <a:r>
              <a:rPr lang="en-US" altLang="zh-CN" dirty="0"/>
              <a:t>· </a:t>
            </a:r>
            <a:r>
              <a:rPr lang="zh-CN" altLang="en-US" dirty="0"/>
              <a:t>将“开放聆听”理念转化为日本消费者可理解的生活方式主张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57973DD-3F72-B9AF-6E25-2A9404470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A24A4C0A-F292-41BE-9CD1-530467B1B9F8}" type="datetime1">
              <a:rPr lang="zh-CN" altLang="en-US" smtClean="0"/>
              <a:t>2026/6/11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29914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2304B7-AB3F-3A75-C422-468C1991FD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09413"/>
            <a:ext cx="10058400" cy="1450757"/>
          </a:xfrm>
        </p:spPr>
        <p:txBody>
          <a:bodyPr>
            <a:normAutofit/>
          </a:bodyPr>
          <a:lstStyle/>
          <a:p>
            <a:r>
              <a:rPr lang="zh-CN" altLang="en-US" sz="3200" dirty="0"/>
              <a:t>成效与跨文化营销核心启示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61613DC-440F-D540-540E-47501E848A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zh-CN" altLang="en-US" dirty="0"/>
              <a:t>成效：</a:t>
            </a:r>
          </a:p>
          <a:p>
            <a:r>
              <a:rPr lang="en-US" altLang="zh-CN" dirty="0"/>
              <a:t>· </a:t>
            </a:r>
            <a:r>
              <a:rPr lang="zh-CN" altLang="en-US" dirty="0"/>
              <a:t>亚马逊日本站骨传导类目排名稳居第一</a:t>
            </a:r>
          </a:p>
          <a:p>
            <a:r>
              <a:rPr lang="en-US" altLang="zh-CN" dirty="0"/>
              <a:t>· </a:t>
            </a:r>
            <a:r>
              <a:rPr lang="zh-CN" altLang="en-US" dirty="0"/>
              <a:t>日本骨传导耳机市场占有率上升至</a:t>
            </a:r>
            <a:r>
              <a:rPr lang="en-US" altLang="zh-CN" dirty="0"/>
              <a:t>23%</a:t>
            </a:r>
          </a:p>
          <a:p>
            <a:r>
              <a:rPr lang="en-US" altLang="zh-CN" dirty="0"/>
              <a:t>· </a:t>
            </a:r>
            <a:r>
              <a:rPr lang="zh-CN" altLang="en-US" dirty="0"/>
              <a:t>年销售额突破</a:t>
            </a:r>
            <a:r>
              <a:rPr lang="en-US" altLang="zh-CN" dirty="0"/>
              <a:t>1</a:t>
            </a:r>
            <a:r>
              <a:rPr lang="zh-CN" altLang="en-US" dirty="0"/>
              <a:t>亿元人民币，成为日本市场第三大海外收入来源</a:t>
            </a:r>
          </a:p>
          <a:p>
            <a:r>
              <a:rPr lang="zh-CN" altLang="en-US" dirty="0"/>
              <a:t>核心启示：</a:t>
            </a:r>
          </a:p>
          <a:p>
            <a:r>
              <a:rPr lang="en-US" altLang="zh-CN" dirty="0"/>
              <a:t>· </a:t>
            </a:r>
            <a:r>
              <a:rPr lang="zh-CN" altLang="en-US" dirty="0"/>
              <a:t>本土化 ≠ 翻译</a:t>
            </a:r>
            <a:r>
              <a:rPr lang="en-US" altLang="zh-CN" dirty="0"/>
              <a:t>——</a:t>
            </a:r>
            <a:r>
              <a:rPr lang="zh-CN" altLang="en-US" dirty="0"/>
              <a:t>本土化是“文化适配”和“在地共创”</a:t>
            </a:r>
          </a:p>
          <a:p>
            <a:r>
              <a:rPr lang="en-US" altLang="zh-CN" dirty="0"/>
              <a:t>· </a:t>
            </a:r>
            <a:r>
              <a:rPr lang="zh-CN" altLang="en-US" dirty="0"/>
              <a:t>线上线下各司其职：线下解决教育成本，线上承接购买决策</a:t>
            </a:r>
          </a:p>
          <a:p>
            <a:r>
              <a:rPr lang="en-US" altLang="zh-CN" dirty="0"/>
              <a:t>· </a:t>
            </a:r>
            <a:r>
              <a:rPr lang="zh-CN" altLang="en-US" dirty="0"/>
              <a:t>品牌建设超越产品功能</a:t>
            </a:r>
            <a:r>
              <a:rPr lang="en-US" altLang="zh-CN" dirty="0"/>
              <a:t>——</a:t>
            </a:r>
            <a:r>
              <a:rPr lang="zh-CN" altLang="en-US" dirty="0"/>
              <a:t>用情感和文化与消费者建立联结</a:t>
            </a:r>
          </a:p>
          <a:p>
            <a:r>
              <a:rPr lang="en-US" altLang="zh-CN" dirty="0"/>
              <a:t>· </a:t>
            </a:r>
            <a:r>
              <a:rPr lang="zh-CN" altLang="en-US" dirty="0"/>
              <a:t>出海成功的本质从“机会驱动”转向“能力驱动”</a:t>
            </a:r>
          </a:p>
          <a:p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BBCD65D-2E94-1651-BCF9-99C94250E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A24A4C0A-F292-41BE-9CD1-530467B1B9F8}" type="datetime1">
              <a:rPr lang="zh-CN" altLang="en-US" smtClean="0"/>
              <a:t>2026/6/11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10160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图片占位符 1">
            <a:extLst>
              <a:ext uri="{FF2B5EF4-FFF2-40B4-BE49-F238E27FC236}">
                <a16:creationId xmlns:a16="http://schemas.microsoft.com/office/drawing/2014/main" id="{661BF077-3203-4A54-5534-91A49FE61AE2}"/>
              </a:ext>
            </a:extLst>
          </p:cNvPr>
          <p:cNvSpPr>
            <a:spLocks noGrp="1"/>
          </p:cNvSpPr>
          <p:nvPr>
            <p:ph type="pic" idx="1"/>
          </p:nvPr>
        </p:nvSpPr>
        <p:spPr/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3714593D-406C-2FB6-9722-6FC92D524A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654" y="3314947"/>
            <a:ext cx="4169427" cy="743682"/>
          </a:xfrm>
        </p:spPr>
        <p:txBody>
          <a:bodyPr/>
          <a:lstStyle/>
          <a:p>
            <a:r>
              <a:rPr lang="zh-CN" altLang="en-US" sz="4800" dirty="0"/>
              <a:t>感谢观看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3B6043E-E4B2-4AF0-74A9-1576E3B6B8A1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6D739EE-9E01-1038-4AE9-3663FBBAE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A78803E1-1726-4879-80E3-452B390141DD}" type="datetime1">
              <a:rPr lang="zh-CN" altLang="en-US" smtClean="0"/>
              <a:t>2026/6/11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2360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theme/theme1.xml><?xml version="1.0" encoding="utf-8"?>
<a:theme xmlns:a="http://schemas.openxmlformats.org/drawingml/2006/main" name="自定义">
  <a:themeElements>
    <a:clrScheme name="Custom 37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9BA8B7"/>
      </a:accent1>
      <a:accent2>
        <a:srgbClr val="E6A02E"/>
      </a:accent2>
      <a:accent3>
        <a:srgbClr val="BF6A3B"/>
      </a:accent3>
      <a:accent4>
        <a:srgbClr val="92987A"/>
      </a:accent4>
      <a:accent5>
        <a:srgbClr val="857659"/>
      </a:accent5>
      <a:accent6>
        <a:srgbClr val="A0988C"/>
      </a:accent6>
      <a:hlink>
        <a:srgbClr val="00B0F0"/>
      </a:hlink>
      <a:folHlink>
        <a:srgbClr val="738F97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1798650_TF56160789.potx" id="{80AA9D2D-EE59-4148-A11E-A51EEE828B28}" vid="{AEAFD717-D3C8-4034-8F7E-D5220B0CCEB8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{24937856-85D3-4966-B658-52434C88039B}TFf0a5ceae-4542-492d-822e-d65a94fb0e1e68a488e6_win32-913669a553b8</Template>
  <TotalTime>102</TotalTime>
  <Words>750</Words>
  <Application>Microsoft Office PowerPoint</Application>
  <PresentationFormat>宽屏</PresentationFormat>
  <Paragraphs>69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5" baseType="lpstr">
      <vt:lpstr>Microsoft YaHei UI</vt:lpstr>
      <vt:lpstr>MS Gothic</vt:lpstr>
      <vt:lpstr>新宋体</vt:lpstr>
      <vt:lpstr>Calibri</vt:lpstr>
      <vt:lpstr>自定义</vt:lpstr>
      <vt:lpstr>从“水土不服”到“品类第一”韶音耳机在日本市场的跨文化营销困境与改进方案 </vt:lpstr>
      <vt:lpstr>面临困境   1.文化   2.品牌   3.渠道</vt:lpstr>
      <vt:lpstr>困境一：文化营销“水土不服”——简单复制欧美模式</vt:lpstr>
      <vt:lpstr>困境二——未了解线下市场对于日本消费者的重要性</vt:lpstr>
      <vt:lpstr>困境三：品牌认知错位-“骨传导”未被日本消费者理解</vt:lpstr>
      <vt:lpstr>改进方案一：从“翻译”到“文化适配”             极致本地化营销</vt:lpstr>
      <vt:lpstr>改进二：O2O闭环 线下体验+线上转化</vt:lpstr>
      <vt:lpstr>改进方案三：从“功能讲述”到“情感共鸣”——品牌升级与文化符号植入</vt:lpstr>
      <vt:lpstr>成效与跨文化营销核心启示</vt:lpstr>
      <vt:lpstr>感谢观看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逢春 枯</dc:creator>
  <cp:lastModifiedBy>逢春 枯</cp:lastModifiedBy>
  <cp:revision>6</cp:revision>
  <dcterms:created xsi:type="dcterms:W3CDTF">2026-06-11T12:39:15Z</dcterms:created>
  <dcterms:modified xsi:type="dcterms:W3CDTF">2026-06-11T14:34:50Z</dcterms:modified>
</cp:coreProperties>
</file>